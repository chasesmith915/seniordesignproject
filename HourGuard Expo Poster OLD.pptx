
<file path=[Content_Types].xml><?xml version="1.0" encoding="utf-8"?>
<Types xmlns="http://schemas.openxmlformats.org/package/2006/content-types">
  <Default Extension="Default" ContentType="image/pn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9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20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60" autoAdjust="0"/>
    <p:restoredTop sz="94660"/>
  </p:normalViewPr>
  <p:slideViewPr>
    <p:cSldViewPr snapToGrid="0">
      <p:cViewPr varScale="1">
        <p:scale>
          <a:sx n="51" d="100"/>
          <a:sy n="51" d="100"/>
        </p:scale>
        <p:origin x="3276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3FB357-9405-4C38-9B22-D37181A0813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1810A-D704-4722-9593-562CAB4D8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02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117FE-0DB0-B330-E06A-E096594CC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1B8EF-8D11-F65F-D76D-C98CC6D83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2D3C8-767F-5A6F-540A-8E46DEAB6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93400-9FA5-04FB-F58C-3FB26C23D3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1810A-D704-4722-9593-562CAB4D8D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113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25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21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66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91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35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45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46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808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486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65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768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15680B-0395-4863-B72E-A48754E25B8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80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Default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A40E8-2E3B-52B5-58D9-B3CC644BE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7DF19C-6827-F296-8A15-EB03C7D2C09B}"/>
              </a:ext>
            </a:extLst>
          </p:cNvPr>
          <p:cNvSpPr txBox="1"/>
          <p:nvPr/>
        </p:nvSpPr>
        <p:spPr>
          <a:xfrm>
            <a:off x="7315200" y="1918661"/>
            <a:ext cx="13933714" cy="34778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sz="22000" dirty="0"/>
              <a:t>HourGuard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1E06F7B-A611-CA0C-5D2F-41CA5C0E2D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7315200" cy="7315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39DDE6-4741-6386-8DF9-E2043DFD623A}"/>
              </a:ext>
            </a:extLst>
          </p:cNvPr>
          <p:cNvSpPr txBox="1"/>
          <p:nvPr/>
        </p:nvSpPr>
        <p:spPr>
          <a:xfrm>
            <a:off x="22027978" y="1072275"/>
            <a:ext cx="11582400" cy="51706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600" dirty="0"/>
              <a:t>Team 4: Nicholas Dumford,</a:t>
            </a:r>
            <a:br>
              <a:rPr lang="en-US" sz="6600" dirty="0"/>
            </a:br>
            <a:r>
              <a:rPr lang="en-US" sz="6600" dirty="0"/>
              <a:t>Bobby Fechtel, Chase Smith</a:t>
            </a:r>
          </a:p>
          <a:p>
            <a:r>
              <a:rPr lang="en-US" sz="6600" dirty="0"/>
              <a:t>Advisor: Dr. Shane Halse</a:t>
            </a:r>
          </a:p>
          <a:p>
            <a:r>
              <a:rPr lang="en-US" sz="6600" dirty="0">
                <a:solidFill>
                  <a:srgbClr val="CF202F"/>
                </a:solidFill>
              </a:rPr>
              <a:t>College of Education, Criminal Justice, and Human Services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6977A69-FE03-A42E-E675-92426CB4FB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0378" y="0"/>
            <a:ext cx="10280822" cy="7315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3B18176-4644-4853-D00C-CECF22CFCA08}"/>
              </a:ext>
            </a:extLst>
          </p:cNvPr>
          <p:cNvSpPr/>
          <p:nvPr/>
        </p:nvSpPr>
        <p:spPr>
          <a:xfrm>
            <a:off x="15931978" y="8108726"/>
            <a:ext cx="26698832" cy="2354780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F83B14-F9CD-A76A-3732-7709F506E5EE}"/>
              </a:ext>
            </a:extLst>
          </p:cNvPr>
          <p:cNvSpPr/>
          <p:nvPr/>
        </p:nvSpPr>
        <p:spPr>
          <a:xfrm>
            <a:off x="17192367" y="9668856"/>
            <a:ext cx="14883180" cy="104110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857250" indent="-857250">
              <a:buFont typeface="Arial" panose="020B0604020202020204" pitchFamily="34" charset="0"/>
              <a:buChar char="•"/>
            </a:pPr>
            <a:endParaRPr lang="en-US" sz="6000" dirty="0"/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dirty="0"/>
              <a:t>Flexible app limits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en-US" sz="6000" dirty="0"/>
              <a:t>Set daily limits, per-session timers, or both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dirty="0"/>
              <a:t>Prevents negative habituation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en-US" sz="6000" dirty="0"/>
              <a:t>Thoughtful deterrence task prevents mindlessly opening apps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dirty="0"/>
              <a:t>Track progress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en-US" sz="6000" dirty="0"/>
              <a:t>Per-app streaks provide positive reinforcement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6B58B2-19DD-E846-3FBA-695FB3518651}"/>
              </a:ext>
            </a:extLst>
          </p:cNvPr>
          <p:cNvSpPr/>
          <p:nvPr/>
        </p:nvSpPr>
        <p:spPr>
          <a:xfrm>
            <a:off x="32705741" y="9695655"/>
            <a:ext cx="8664679" cy="113265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dirty="0"/>
              <a:t>Screenshot?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05673E3-4E30-387F-9ADB-79E75DE61538}"/>
              </a:ext>
            </a:extLst>
          </p:cNvPr>
          <p:cNvGrpSpPr/>
          <p:nvPr/>
        </p:nvGrpSpPr>
        <p:grpSpPr>
          <a:xfrm>
            <a:off x="1260389" y="7315076"/>
            <a:ext cx="13411200" cy="8650873"/>
            <a:chOff x="1260389" y="15604790"/>
            <a:chExt cx="13411200" cy="865087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DEB3B9B-2765-AC50-375F-3F7F5D0C8BA4}"/>
                </a:ext>
              </a:extLst>
            </p:cNvPr>
            <p:cNvSpPr/>
            <p:nvPr/>
          </p:nvSpPr>
          <p:spPr>
            <a:xfrm>
              <a:off x="1260389" y="16398316"/>
              <a:ext cx="13411200" cy="785734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6000" dirty="0"/>
            </a:p>
            <a:p>
              <a:pPr marL="857250" indent="-857250">
                <a:buFont typeface="Arial" panose="020B0604020202020204" pitchFamily="34" charset="0"/>
                <a:buChar char="•"/>
              </a:pPr>
              <a:r>
                <a:rPr lang="en-US" sz="6000" dirty="0"/>
                <a:t>Cell phones are distracting and constantly begging for attention</a:t>
              </a:r>
            </a:p>
            <a:p>
              <a:pPr marL="857250" indent="-857250">
                <a:buFont typeface="Arial" panose="020B0604020202020204" pitchFamily="34" charset="0"/>
                <a:buChar char="•"/>
              </a:pPr>
              <a:r>
                <a:rPr lang="en-US" sz="6000" dirty="0"/>
                <a:t>Social media apps are especially addicting, designed to keep you on them as long as possible</a:t>
              </a:r>
            </a:p>
            <a:p>
              <a:pPr marL="857250" indent="-857250">
                <a:buFont typeface="Arial" panose="020B0604020202020204" pitchFamily="34" charset="0"/>
                <a:buChar char="•"/>
              </a:pPr>
              <a:r>
                <a:rPr lang="en-US" sz="6000" dirty="0"/>
                <a:t>Current solutions are primarily designed for parents</a:t>
              </a:r>
            </a:p>
          </p:txBody>
        </p:sp>
        <p:sp>
          <p:nvSpPr>
            <p:cNvPr id="16" name="Flowchart: Terminator 15">
              <a:extLst>
                <a:ext uri="{FF2B5EF4-FFF2-40B4-BE49-F238E27FC236}">
                  <a16:creationId xmlns:a16="http://schemas.microsoft.com/office/drawing/2014/main" id="{634CFB24-63FE-3D87-1773-2A73FE1A4130}"/>
                </a:ext>
              </a:extLst>
            </p:cNvPr>
            <p:cNvSpPr/>
            <p:nvPr/>
          </p:nvSpPr>
          <p:spPr>
            <a:xfrm>
              <a:off x="3313697" y="15604790"/>
              <a:ext cx="9450806" cy="1587052"/>
            </a:xfrm>
            <a:prstGeom prst="flowChartTerminator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0" dirty="0"/>
                <a:t>The  Problem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702BD4D-DA89-F0B0-D063-A373A272ED26}"/>
              </a:ext>
            </a:extLst>
          </p:cNvPr>
          <p:cNvGrpSpPr/>
          <p:nvPr/>
        </p:nvGrpSpPr>
        <p:grpSpPr>
          <a:xfrm>
            <a:off x="1260389" y="17215954"/>
            <a:ext cx="13411200" cy="8108727"/>
            <a:chOff x="1260389" y="7315200"/>
            <a:chExt cx="13411200" cy="810872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B8682DA-D3C5-830E-EEAB-2AA86A30942C}"/>
                </a:ext>
              </a:extLst>
            </p:cNvPr>
            <p:cNvSpPr/>
            <p:nvPr/>
          </p:nvSpPr>
          <p:spPr>
            <a:xfrm>
              <a:off x="1260389" y="8108726"/>
              <a:ext cx="13411200" cy="731520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857250" indent="-857250">
                <a:buFont typeface="Arial" panose="020B0604020202020204" pitchFamily="34" charset="0"/>
                <a:buChar char="•"/>
              </a:pPr>
              <a:endParaRPr lang="en-US" sz="6000" dirty="0"/>
            </a:p>
            <a:p>
              <a:pPr marL="857250" indent="-857250">
                <a:buFont typeface="Arial" panose="020B0604020202020204" pitchFamily="34" charset="0"/>
                <a:buChar char="•"/>
              </a:pPr>
              <a:r>
                <a:rPr lang="en-US" sz="6000" dirty="0"/>
                <a:t>HourGuard is a psychology-backed time management app for Android</a:t>
              </a:r>
            </a:p>
            <a:p>
              <a:pPr marL="857250" indent="-857250">
                <a:buFont typeface="Arial" panose="020B0604020202020204" pitchFamily="34" charset="0"/>
                <a:buChar char="•"/>
              </a:pPr>
              <a:r>
                <a:rPr lang="en-US" sz="6000" dirty="0"/>
                <a:t>Helps the user build healthy screen time habits</a:t>
              </a:r>
            </a:p>
            <a:p>
              <a:pPr marL="857250" indent="-857250">
                <a:buFont typeface="Arial" panose="020B0604020202020204" pitchFamily="34" charset="0"/>
                <a:buChar char="•"/>
              </a:pPr>
              <a:r>
                <a:rPr lang="en-US" sz="6000" dirty="0"/>
                <a:t>Designed for the user</a:t>
              </a:r>
            </a:p>
          </p:txBody>
        </p:sp>
        <p:sp>
          <p:nvSpPr>
            <p:cNvPr id="18" name="Flowchart: Terminator 17">
              <a:extLst>
                <a:ext uri="{FF2B5EF4-FFF2-40B4-BE49-F238E27FC236}">
                  <a16:creationId xmlns:a16="http://schemas.microsoft.com/office/drawing/2014/main" id="{BF3F0A9B-07B2-D0FC-270C-975F892BA310}"/>
                </a:ext>
              </a:extLst>
            </p:cNvPr>
            <p:cNvSpPr/>
            <p:nvPr/>
          </p:nvSpPr>
          <p:spPr>
            <a:xfrm>
              <a:off x="3313697" y="7315200"/>
              <a:ext cx="9450806" cy="1587052"/>
            </a:xfrm>
            <a:prstGeom prst="flowChartTerminator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0" dirty="0"/>
                <a:t>About HourGuard</a:t>
              </a:r>
            </a:p>
          </p:txBody>
        </p:sp>
      </p:grpSp>
      <p:sp>
        <p:nvSpPr>
          <p:cNvPr id="26" name="Flowchart: Terminator 25">
            <a:extLst>
              <a:ext uri="{FF2B5EF4-FFF2-40B4-BE49-F238E27FC236}">
                <a16:creationId xmlns:a16="http://schemas.microsoft.com/office/drawing/2014/main" id="{4AB901BB-BFBE-8D56-72C6-977D30068918}"/>
              </a:ext>
            </a:extLst>
          </p:cNvPr>
          <p:cNvSpPr/>
          <p:nvPr/>
        </p:nvSpPr>
        <p:spPr>
          <a:xfrm>
            <a:off x="24338338" y="7315076"/>
            <a:ext cx="9450806" cy="1587052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Our Solution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3D746C2-8DA3-E872-09D6-20D2EF4AEE2D}"/>
              </a:ext>
            </a:extLst>
          </p:cNvPr>
          <p:cNvGrpSpPr/>
          <p:nvPr/>
        </p:nvGrpSpPr>
        <p:grpSpPr>
          <a:xfrm>
            <a:off x="1260389" y="26574686"/>
            <a:ext cx="13411200" cy="5081842"/>
            <a:chOff x="1260389" y="24852725"/>
            <a:chExt cx="13411200" cy="5081842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157FC52-B60E-1E80-2067-7A187D2ED1EB}"/>
                </a:ext>
              </a:extLst>
            </p:cNvPr>
            <p:cNvGrpSpPr/>
            <p:nvPr/>
          </p:nvGrpSpPr>
          <p:grpSpPr>
            <a:xfrm>
              <a:off x="1260389" y="24852725"/>
              <a:ext cx="13411200" cy="5081842"/>
              <a:chOff x="1260389" y="24852725"/>
              <a:chExt cx="13411200" cy="5081842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87F5564-4BFE-D100-D61D-971C861CFE40}"/>
                  </a:ext>
                </a:extLst>
              </p:cNvPr>
              <p:cNvSpPr/>
              <p:nvPr/>
            </p:nvSpPr>
            <p:spPr>
              <a:xfrm>
                <a:off x="1260389" y="25603200"/>
                <a:ext cx="13411200" cy="433136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6000" dirty="0"/>
              </a:p>
              <a:p>
                <a:pPr algn="ctr"/>
                <a:endParaRPr lang="en-US" sz="6000" dirty="0"/>
              </a:p>
            </p:txBody>
          </p:sp>
          <p:sp>
            <p:nvSpPr>
              <p:cNvPr id="20" name="Flowchart: Terminator 19">
                <a:extLst>
                  <a:ext uri="{FF2B5EF4-FFF2-40B4-BE49-F238E27FC236}">
                    <a16:creationId xmlns:a16="http://schemas.microsoft.com/office/drawing/2014/main" id="{0CACB8D4-EA08-4173-950B-A8F6780221C9}"/>
                  </a:ext>
                </a:extLst>
              </p:cNvPr>
              <p:cNvSpPr/>
              <p:nvPr/>
            </p:nvSpPr>
            <p:spPr>
              <a:xfrm>
                <a:off x="3313697" y="24852725"/>
                <a:ext cx="9450806" cy="1500949"/>
              </a:xfrm>
              <a:prstGeom prst="flowChartTerminator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8000" dirty="0"/>
                  <a:t>Technologies</a:t>
                </a:r>
              </a:p>
            </p:txBody>
          </p:sp>
        </p:grp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88379E1E-0C0B-7C2C-0E62-F2DD2727D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25509" y="26871087"/>
              <a:ext cx="3904180" cy="22860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1C79432-AAE5-B227-524F-FA0A73592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9949" y="26871087"/>
              <a:ext cx="2286000" cy="2286000"/>
            </a:xfrm>
            <a:prstGeom prst="rect">
              <a:avLst/>
            </a:prstGeom>
          </p:spPr>
        </p:pic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AB440218-4761-D37C-6B78-E392FDCA0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069249" y="26871087"/>
              <a:ext cx="5062780" cy="2286000"/>
            </a:xfrm>
            <a:prstGeom prst="rect">
              <a:avLst/>
            </a:prstGeom>
          </p:spPr>
        </p:pic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BA76D38B-F965-3535-16FC-2A81A55BEB5E}"/>
              </a:ext>
            </a:extLst>
          </p:cNvPr>
          <p:cNvSpPr/>
          <p:nvPr/>
        </p:nvSpPr>
        <p:spPr>
          <a:xfrm>
            <a:off x="17192368" y="21653163"/>
            <a:ext cx="24178054" cy="87414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dirty="0"/>
              <a:t>Activity Diagram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C9A1C2-B414-4469-51A6-4D282A1A5FCC}"/>
              </a:ext>
            </a:extLst>
          </p:cNvPr>
          <p:cNvSpPr>
            <a:spLocks noChangeAspect="1"/>
          </p:cNvSpPr>
          <p:nvPr/>
        </p:nvSpPr>
        <p:spPr>
          <a:xfrm>
            <a:off x="41370421" y="30394656"/>
            <a:ext cx="2520778" cy="2523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B6E23D-630F-9AD7-9727-F352BB838CA2}"/>
              </a:ext>
            </a:extLst>
          </p:cNvPr>
          <p:cNvSpPr>
            <a:spLocks noChangeAspect="1"/>
          </p:cNvSpPr>
          <p:nvPr/>
        </p:nvSpPr>
        <p:spPr>
          <a:xfrm>
            <a:off x="14671589" y="31650595"/>
            <a:ext cx="1260389" cy="1261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BD3B87-2397-5833-69D2-D4AD4E9A3CBD}"/>
              </a:ext>
            </a:extLst>
          </p:cNvPr>
          <p:cNvSpPr>
            <a:spLocks noChangeAspect="1"/>
          </p:cNvSpPr>
          <p:nvPr/>
        </p:nvSpPr>
        <p:spPr>
          <a:xfrm>
            <a:off x="15931978" y="30394657"/>
            <a:ext cx="1260389" cy="1261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0ABB92-80DD-4B29-CE38-9D11989A6E63}"/>
              </a:ext>
            </a:extLst>
          </p:cNvPr>
          <p:cNvSpPr>
            <a:spLocks/>
          </p:cNvSpPr>
          <p:nvPr/>
        </p:nvSpPr>
        <p:spPr>
          <a:xfrm>
            <a:off x="17192367" y="21653162"/>
            <a:ext cx="630195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1AE5CB-044E-CBB9-D679-7F0B43A1F9F0}"/>
              </a:ext>
            </a:extLst>
          </p:cNvPr>
          <p:cNvSpPr>
            <a:spLocks noChangeAspect="1"/>
          </p:cNvSpPr>
          <p:nvPr/>
        </p:nvSpPr>
        <p:spPr>
          <a:xfrm>
            <a:off x="40740225" y="29763720"/>
            <a:ext cx="630195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964405ED-CB9E-2C09-BAE3-9368925E66F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822561" y="22284097"/>
            <a:ext cx="22917664" cy="7451951"/>
          </a:xfrm>
          <a:prstGeom prst="rect">
            <a:avLst/>
          </a:prstGeom>
        </p:spPr>
      </p:pic>
      <p:sp>
        <p:nvSpPr>
          <p:cNvPr id="32" name="Flowchart: Terminator 31">
            <a:extLst>
              <a:ext uri="{FF2B5EF4-FFF2-40B4-BE49-F238E27FC236}">
                <a16:creationId xmlns:a16="http://schemas.microsoft.com/office/drawing/2014/main" id="{02FF781F-D22A-9E60-45F8-845E646A66E8}"/>
              </a:ext>
            </a:extLst>
          </p:cNvPr>
          <p:cNvSpPr/>
          <p:nvPr/>
        </p:nvSpPr>
        <p:spPr>
          <a:xfrm>
            <a:off x="22152873" y="20873554"/>
            <a:ext cx="9450806" cy="1587052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How it Works</a:t>
            </a:r>
          </a:p>
        </p:txBody>
      </p:sp>
      <p:sp>
        <p:nvSpPr>
          <p:cNvPr id="34" name="Flowchart: Terminator 33">
            <a:extLst>
              <a:ext uri="{FF2B5EF4-FFF2-40B4-BE49-F238E27FC236}">
                <a16:creationId xmlns:a16="http://schemas.microsoft.com/office/drawing/2014/main" id="{E71D32A3-3414-331B-66E1-96DE4DD9EF49}"/>
              </a:ext>
            </a:extLst>
          </p:cNvPr>
          <p:cNvSpPr/>
          <p:nvPr/>
        </p:nvSpPr>
        <p:spPr>
          <a:xfrm>
            <a:off x="33592154" y="8902128"/>
            <a:ext cx="6891852" cy="1587052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dirty="0"/>
              <a:t>HourGuard Popup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78C237-41BD-40B6-513A-ACE129AFAEF1}"/>
              </a:ext>
            </a:extLst>
          </p:cNvPr>
          <p:cNvSpPr>
            <a:spLocks noChangeAspect="1"/>
          </p:cNvSpPr>
          <p:nvPr/>
        </p:nvSpPr>
        <p:spPr>
          <a:xfrm>
            <a:off x="33789144" y="8108602"/>
            <a:ext cx="2520778" cy="793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9AFEA8-7222-AEE2-FD0F-FE755653F919}"/>
              </a:ext>
            </a:extLst>
          </p:cNvPr>
          <p:cNvSpPr>
            <a:spLocks/>
          </p:cNvSpPr>
          <p:nvPr/>
        </p:nvSpPr>
        <p:spPr>
          <a:xfrm>
            <a:off x="41370419" y="8135400"/>
            <a:ext cx="1260389" cy="15602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8A1578-A8CD-341C-3D0E-7E5375477193}"/>
              </a:ext>
            </a:extLst>
          </p:cNvPr>
          <p:cNvSpPr>
            <a:spLocks/>
          </p:cNvSpPr>
          <p:nvPr/>
        </p:nvSpPr>
        <p:spPr>
          <a:xfrm>
            <a:off x="32705741" y="20391291"/>
            <a:ext cx="630195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D213F4-930C-ED21-66D1-82F4C9D488FD}"/>
              </a:ext>
            </a:extLst>
          </p:cNvPr>
          <p:cNvSpPr>
            <a:spLocks/>
          </p:cNvSpPr>
          <p:nvPr/>
        </p:nvSpPr>
        <p:spPr>
          <a:xfrm>
            <a:off x="40736344" y="10489179"/>
            <a:ext cx="630195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D902F31-F0DE-0931-7878-A208C27F70E1}"/>
              </a:ext>
            </a:extLst>
          </p:cNvPr>
          <p:cNvSpPr>
            <a:spLocks/>
          </p:cNvSpPr>
          <p:nvPr/>
        </p:nvSpPr>
        <p:spPr>
          <a:xfrm>
            <a:off x="15931978" y="8108602"/>
            <a:ext cx="1260389" cy="15602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1EE85F1-AB1F-D6A9-C167-1288673998A7}"/>
              </a:ext>
            </a:extLst>
          </p:cNvPr>
          <p:cNvSpPr>
            <a:spLocks/>
          </p:cNvSpPr>
          <p:nvPr/>
        </p:nvSpPr>
        <p:spPr>
          <a:xfrm>
            <a:off x="32071665" y="15891567"/>
            <a:ext cx="630195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CE7C8E4-4978-832D-2975-FFA812B2B58E}"/>
              </a:ext>
            </a:extLst>
          </p:cNvPr>
          <p:cNvSpPr>
            <a:spLocks noChangeAspect="1"/>
          </p:cNvSpPr>
          <p:nvPr/>
        </p:nvSpPr>
        <p:spPr>
          <a:xfrm>
            <a:off x="25059482" y="20079966"/>
            <a:ext cx="2520778" cy="793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C0244BB-5C78-5DE4-D289-D27A890F65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844046" y="11120114"/>
            <a:ext cx="6388067" cy="92711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27684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3021</TotalTime>
  <Words>129</Words>
  <Application>Microsoft Office PowerPoint</Application>
  <PresentationFormat>Custom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Fechtel, Bobby (fechtert)</dc:creator>
  <cp:lastModifiedBy>Fechtel, Bobby (fechtert)</cp:lastModifiedBy>
  <cp:revision>10</cp:revision>
  <dcterms:created xsi:type="dcterms:W3CDTF">2026-03-09T14:16:02Z</dcterms:created>
  <dcterms:modified xsi:type="dcterms:W3CDTF">2026-03-12T16:53:01Z</dcterms:modified>
</cp:coreProperties>
</file>