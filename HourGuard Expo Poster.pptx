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EF7"/>
    <a:srgbClr val="2B4AD4"/>
    <a:srgbClr val="CF2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0" autoAdjust="0"/>
    <p:restoredTop sz="94660"/>
  </p:normalViewPr>
  <p:slideViewPr>
    <p:cSldViewPr snapToGrid="0">
      <p:cViewPr varScale="1">
        <p:scale>
          <a:sx n="22" d="100"/>
          <a:sy n="22" d="100"/>
        </p:scale>
        <p:origin x="23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FB357-9405-4C38-9B22-D37181A0813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1810A-D704-4722-9593-562CAB4D8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0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17FE-0DB0-B330-E06A-E096594C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1B8EF-8D11-F65F-D76D-C98CC6D83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2D3C8-767F-5A6F-540A-8E46DEAB6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93400-9FA5-04FB-F58C-3FB26C23D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1810A-D704-4722-9593-562CAB4D8D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13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2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2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6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9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3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4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4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0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6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5680B-0395-4863-B72E-A48754E25B8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9C7AB-1FAC-4269-8C95-DF4F8DE17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Default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40E8-2E3B-52B5-58D9-B3CC644B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DF19C-6827-F296-8A15-EB03C7D2C09B}"/>
              </a:ext>
            </a:extLst>
          </p:cNvPr>
          <p:cNvSpPr txBox="1"/>
          <p:nvPr/>
        </p:nvSpPr>
        <p:spPr>
          <a:xfrm>
            <a:off x="7315200" y="2161822"/>
            <a:ext cx="13933714" cy="30162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sz="19000" b="1" dirty="0">
                <a:solidFill>
                  <a:srgbClr val="2B4AD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HourGuard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E06F7B-A611-CA0C-5D2F-41CA5C0E2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315200" cy="731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9DDE6-4741-6386-8DF9-E2043DFD623A}"/>
              </a:ext>
            </a:extLst>
          </p:cNvPr>
          <p:cNvSpPr txBox="1"/>
          <p:nvPr/>
        </p:nvSpPr>
        <p:spPr>
          <a:xfrm>
            <a:off x="22677982" y="1303109"/>
            <a:ext cx="10932396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Team 4: Nicholas Dumford,</a:t>
            </a:r>
            <a:br>
              <a:rPr lang="en-US" sz="60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6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Bobby Fechtel, Chase Smith</a:t>
            </a:r>
          </a:p>
          <a:p>
            <a:r>
              <a:rPr lang="en-US" sz="6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Advisor: Dr. Shane Halse</a:t>
            </a:r>
          </a:p>
          <a:p>
            <a:r>
              <a:rPr lang="en-US" sz="6000" dirty="0">
                <a:solidFill>
                  <a:srgbClr val="CF202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College of Education, Criminal Justice, and Human Services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977A69-FE03-A42E-E675-92426CB4F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378" y="0"/>
            <a:ext cx="10280822" cy="7315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B18176-4644-4853-D00C-CECF22CFCA08}"/>
              </a:ext>
            </a:extLst>
          </p:cNvPr>
          <p:cNvSpPr/>
          <p:nvPr/>
        </p:nvSpPr>
        <p:spPr>
          <a:xfrm>
            <a:off x="15928097" y="8097417"/>
            <a:ext cx="26698832" cy="23547802"/>
          </a:xfrm>
          <a:prstGeom prst="rect">
            <a:avLst/>
          </a:prstGeom>
          <a:noFill/>
          <a:ln w="76200">
            <a:solidFill>
              <a:srgbClr val="2B4A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5673E3-4E30-387F-9ADB-79E75DE61538}"/>
              </a:ext>
            </a:extLst>
          </p:cNvPr>
          <p:cNvGrpSpPr/>
          <p:nvPr/>
        </p:nvGrpSpPr>
        <p:grpSpPr>
          <a:xfrm>
            <a:off x="1260389" y="7315076"/>
            <a:ext cx="13411200" cy="8387370"/>
            <a:chOff x="1260389" y="15604790"/>
            <a:chExt cx="13411200" cy="83873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DEB3B9B-2765-AC50-375F-3F7F5D0C8BA4}"/>
                </a:ext>
              </a:extLst>
            </p:cNvPr>
            <p:cNvSpPr/>
            <p:nvPr/>
          </p:nvSpPr>
          <p:spPr>
            <a:xfrm>
              <a:off x="1260389" y="16398317"/>
              <a:ext cx="13411200" cy="7593843"/>
            </a:xfrm>
            <a:prstGeom prst="rect">
              <a:avLst/>
            </a:prstGeom>
            <a:solidFill>
              <a:schemeClr val="lt1">
                <a:alpha val="98000"/>
              </a:schemeClr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274320" tIns="914400" rIns="274320" bIns="274320" rtlCol="0" anchor="ctr">
              <a:spAutoFit/>
            </a:bodyPr>
            <a:lstStyle/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Cell phones are distracting and constantly begging for attention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Social media apps are especially addicting, designed to keep you on them as long as possible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Current solutions are primarily designed for parents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634CFB24-63FE-3D87-1773-2A73FE1A4130}"/>
                </a:ext>
              </a:extLst>
            </p:cNvPr>
            <p:cNvSpPr/>
            <p:nvPr/>
          </p:nvSpPr>
          <p:spPr>
            <a:xfrm>
              <a:off x="3313697" y="15604790"/>
              <a:ext cx="9450806" cy="1587052"/>
            </a:xfrm>
            <a:prstGeom prst="flowChartTerminator">
              <a:avLst/>
            </a:prstGeom>
            <a:solidFill>
              <a:srgbClr val="D8DEF7"/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The  Problem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02BD4D-DA89-F0B0-D063-A373A272ED26}"/>
              </a:ext>
            </a:extLst>
          </p:cNvPr>
          <p:cNvGrpSpPr/>
          <p:nvPr/>
        </p:nvGrpSpPr>
        <p:grpSpPr>
          <a:xfrm>
            <a:off x="1260389" y="17371650"/>
            <a:ext cx="13411200" cy="7533833"/>
            <a:chOff x="1260389" y="6827507"/>
            <a:chExt cx="13411200" cy="75338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B8682DA-D3C5-830E-EEAB-2AA86A30942C}"/>
                </a:ext>
              </a:extLst>
            </p:cNvPr>
            <p:cNvSpPr/>
            <p:nvPr/>
          </p:nvSpPr>
          <p:spPr>
            <a:xfrm>
              <a:off x="1260389" y="7621033"/>
              <a:ext cx="13411200" cy="6740307"/>
            </a:xfrm>
            <a:prstGeom prst="rect">
              <a:avLst/>
            </a:prstGeom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274320" tIns="914400" rIns="274320" bIns="274320" rtlCol="0" anchor="ctr">
              <a:spAutoFit/>
            </a:bodyPr>
            <a:lstStyle/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HourGuard is a psychology-backed time management app for Android devices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Helps the user build healthy screen time habits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Designed for self-regulation</a:t>
              </a:r>
            </a:p>
          </p:txBody>
        </p:sp>
        <p:sp>
          <p:nvSpPr>
            <p:cNvPr id="18" name="Flowchart: Terminator 17">
              <a:extLst>
                <a:ext uri="{FF2B5EF4-FFF2-40B4-BE49-F238E27FC236}">
                  <a16:creationId xmlns:a16="http://schemas.microsoft.com/office/drawing/2014/main" id="{BF3F0A9B-07B2-D0FC-270C-975F892BA310}"/>
                </a:ext>
              </a:extLst>
            </p:cNvPr>
            <p:cNvSpPr/>
            <p:nvPr/>
          </p:nvSpPr>
          <p:spPr>
            <a:xfrm>
              <a:off x="3313697" y="6827507"/>
              <a:ext cx="9450806" cy="1587052"/>
            </a:xfrm>
            <a:prstGeom prst="flowChartTerminator">
              <a:avLst/>
            </a:prstGeom>
            <a:solidFill>
              <a:srgbClr val="D8DEF7"/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About HourGuard</a:t>
              </a:r>
            </a:p>
          </p:txBody>
        </p:sp>
      </p:grp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4AB901BB-BFBE-8D56-72C6-977D30068918}"/>
              </a:ext>
            </a:extLst>
          </p:cNvPr>
          <p:cNvSpPr/>
          <p:nvPr/>
        </p:nvSpPr>
        <p:spPr>
          <a:xfrm>
            <a:off x="24338338" y="7315076"/>
            <a:ext cx="9450806" cy="1587052"/>
          </a:xfrm>
          <a:prstGeom prst="flowChartTerminator">
            <a:avLst/>
          </a:prstGeom>
          <a:solidFill>
            <a:srgbClr val="D8DEF7"/>
          </a:solidFill>
          <a:ln w="76200">
            <a:solidFill>
              <a:srgbClr val="2B4A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Our Solution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D746C2-8DA3-E872-09D6-20D2EF4AEE2D}"/>
              </a:ext>
            </a:extLst>
          </p:cNvPr>
          <p:cNvGrpSpPr/>
          <p:nvPr/>
        </p:nvGrpSpPr>
        <p:grpSpPr>
          <a:xfrm>
            <a:off x="1260389" y="26574686"/>
            <a:ext cx="13411200" cy="5081842"/>
            <a:chOff x="1260389" y="24852725"/>
            <a:chExt cx="13411200" cy="508184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157FC52-B60E-1E80-2067-7A187D2ED1EB}"/>
                </a:ext>
              </a:extLst>
            </p:cNvPr>
            <p:cNvGrpSpPr/>
            <p:nvPr/>
          </p:nvGrpSpPr>
          <p:grpSpPr>
            <a:xfrm>
              <a:off x="1260389" y="24852725"/>
              <a:ext cx="13411200" cy="5081842"/>
              <a:chOff x="1260389" y="24852725"/>
              <a:chExt cx="13411200" cy="508184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87F5564-4BFE-D100-D61D-971C861CFE40}"/>
                  </a:ext>
                </a:extLst>
              </p:cNvPr>
              <p:cNvSpPr/>
              <p:nvPr/>
            </p:nvSpPr>
            <p:spPr>
              <a:xfrm>
                <a:off x="1260389" y="25603200"/>
                <a:ext cx="13411200" cy="4331367"/>
              </a:xfrm>
              <a:prstGeom prst="rect">
                <a:avLst/>
              </a:prstGeom>
              <a:ln w="76200">
                <a:solidFill>
                  <a:srgbClr val="2B4AD4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6000" dirty="0"/>
              </a:p>
              <a:p>
                <a:pPr algn="ctr"/>
                <a:endParaRPr lang="en-US" sz="6000" dirty="0"/>
              </a:p>
            </p:txBody>
          </p:sp>
          <p:sp>
            <p:nvSpPr>
              <p:cNvPr id="20" name="Flowchart: Terminator 19">
                <a:extLst>
                  <a:ext uri="{FF2B5EF4-FFF2-40B4-BE49-F238E27FC236}">
                    <a16:creationId xmlns:a16="http://schemas.microsoft.com/office/drawing/2014/main" id="{0CACB8D4-EA08-4173-950B-A8F6780221C9}"/>
                  </a:ext>
                </a:extLst>
              </p:cNvPr>
              <p:cNvSpPr/>
              <p:nvPr/>
            </p:nvSpPr>
            <p:spPr>
              <a:xfrm>
                <a:off x="3313697" y="24852725"/>
                <a:ext cx="9450806" cy="1500949"/>
              </a:xfrm>
              <a:prstGeom prst="flowChartTerminator">
                <a:avLst/>
              </a:prstGeom>
              <a:solidFill>
                <a:srgbClr val="D8DEF7"/>
              </a:solidFill>
              <a:ln w="76200">
                <a:solidFill>
                  <a:srgbClr val="2B4AD4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Technologies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8379E1E-0C0B-7C2C-0E62-F2DD2727D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25509" y="26871087"/>
              <a:ext cx="3904180" cy="2286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1C79432-AAE5-B227-524F-FA0A73592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949" y="26871087"/>
              <a:ext cx="2286000" cy="2286000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AB440218-4761-D37C-6B78-E392FDCA0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69249" y="26871087"/>
              <a:ext cx="5062780" cy="2286000"/>
            </a:xfrm>
            <a:prstGeom prst="rect">
              <a:avLst/>
            </a:prstGeom>
          </p:spPr>
        </p:pic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76D38B-F965-3535-16FC-2A81A55BEB5E}"/>
              </a:ext>
            </a:extLst>
          </p:cNvPr>
          <p:cNvSpPr/>
          <p:nvPr/>
        </p:nvSpPr>
        <p:spPr>
          <a:xfrm>
            <a:off x="17192368" y="21653163"/>
            <a:ext cx="24178054" cy="8741494"/>
          </a:xfrm>
          <a:prstGeom prst="roundRect">
            <a:avLst>
              <a:gd name="adj" fmla="val 4463"/>
            </a:avLst>
          </a:prstGeom>
          <a:noFill/>
          <a:ln w="76200">
            <a:solidFill>
              <a:srgbClr val="2B4A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/>
              <a:t>Activity Diagram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964405ED-CB9E-2C09-BAE3-9368925E66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822561" y="22284097"/>
            <a:ext cx="22917664" cy="7451951"/>
          </a:xfrm>
          <a:prstGeom prst="rect">
            <a:avLst/>
          </a:prstGeom>
        </p:spPr>
      </p:pic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02FF781F-D22A-9E60-45F8-845E646A66E8}"/>
              </a:ext>
            </a:extLst>
          </p:cNvPr>
          <p:cNvSpPr/>
          <p:nvPr/>
        </p:nvSpPr>
        <p:spPr>
          <a:xfrm>
            <a:off x="21032573" y="20859636"/>
            <a:ext cx="9450806" cy="1587052"/>
          </a:xfrm>
          <a:prstGeom prst="flowChartTerminator">
            <a:avLst/>
          </a:prstGeom>
          <a:solidFill>
            <a:srgbClr val="D8DEF7"/>
          </a:solidFill>
          <a:ln w="76200">
            <a:solidFill>
              <a:srgbClr val="2B4A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How it </a:t>
            </a:r>
            <a:r>
              <a:rPr lang="en-US" sz="7200" b="1" dirty="0"/>
              <a:t>Works</a:t>
            </a:r>
            <a:endParaRPr lang="en-US" sz="8000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4ACF606-C2E3-F516-E22B-EBE18015FB6C}"/>
              </a:ext>
            </a:extLst>
          </p:cNvPr>
          <p:cNvGrpSpPr/>
          <p:nvPr/>
        </p:nvGrpSpPr>
        <p:grpSpPr>
          <a:xfrm>
            <a:off x="17201632" y="9683006"/>
            <a:ext cx="15109502" cy="2416352"/>
            <a:chOff x="17196247" y="9122568"/>
            <a:chExt cx="15109502" cy="241635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402D115-0493-D97D-8B55-9868678E031B}"/>
                </a:ext>
              </a:extLst>
            </p:cNvPr>
            <p:cNvSpPr/>
            <p:nvPr/>
          </p:nvSpPr>
          <p:spPr>
            <a:xfrm>
              <a:off x="17196247" y="9672257"/>
              <a:ext cx="15109502" cy="1866663"/>
            </a:xfrm>
            <a:prstGeom prst="roundRect">
              <a:avLst/>
            </a:prstGeom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274320" tIns="548640" rIns="274320" bIns="274320" rtlCol="0" anchor="ctr">
              <a:spAutoFit/>
            </a:bodyPr>
            <a:lstStyle/>
            <a:p>
              <a:r>
                <a:rPr lang="en-US" sz="54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Set daily limits, per-session timers, or both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FC5BAEC2-8BCE-879B-C90B-A2479650C317}"/>
                </a:ext>
              </a:extLst>
            </p:cNvPr>
            <p:cNvSpPr/>
            <p:nvPr/>
          </p:nvSpPr>
          <p:spPr>
            <a:xfrm>
              <a:off x="17822560" y="9122568"/>
              <a:ext cx="7617051" cy="1082545"/>
            </a:xfrm>
            <a:prstGeom prst="roundRect">
              <a:avLst/>
            </a:prstGeom>
            <a:solidFill>
              <a:srgbClr val="D8DEF7"/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Flexible App Limits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E7735EC-9F01-87FE-65C8-94655B20577A}"/>
              </a:ext>
            </a:extLst>
          </p:cNvPr>
          <p:cNvGrpSpPr/>
          <p:nvPr/>
        </p:nvGrpSpPr>
        <p:grpSpPr>
          <a:xfrm>
            <a:off x="17188485" y="17011689"/>
            <a:ext cx="15109502" cy="3297699"/>
            <a:chOff x="15941246" y="8884471"/>
            <a:chExt cx="15109502" cy="329769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0757ED9-9BD7-CE12-9FFE-4CB8041267C9}"/>
                </a:ext>
              </a:extLst>
            </p:cNvPr>
            <p:cNvSpPr/>
            <p:nvPr/>
          </p:nvSpPr>
          <p:spPr>
            <a:xfrm>
              <a:off x="15941246" y="9423968"/>
              <a:ext cx="15109502" cy="2758202"/>
            </a:xfrm>
            <a:prstGeom prst="roundRect">
              <a:avLst/>
            </a:prstGeom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274320" tIns="548640" rIns="274320" bIns="274320" rtlCol="0" anchor="ctr">
              <a:spAutoFit/>
            </a:bodyPr>
            <a:lstStyle/>
            <a:p>
              <a:r>
                <a:rPr lang="en-US" sz="54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Streaks for staying within set app limits provide positive reinforcement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C27718A-3ACB-1328-0526-32761B02D9D2}"/>
                </a:ext>
              </a:extLst>
            </p:cNvPr>
            <p:cNvSpPr/>
            <p:nvPr/>
          </p:nvSpPr>
          <p:spPr>
            <a:xfrm>
              <a:off x="16562174" y="8884471"/>
              <a:ext cx="5951840" cy="1078992"/>
            </a:xfrm>
            <a:prstGeom prst="roundRect">
              <a:avLst/>
            </a:prstGeom>
            <a:solidFill>
              <a:srgbClr val="D8DEF7"/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Track Progress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5D9086C-BEF0-D963-8D54-BE512941609D}"/>
              </a:ext>
            </a:extLst>
          </p:cNvPr>
          <p:cNvGrpSpPr/>
          <p:nvPr/>
        </p:nvGrpSpPr>
        <p:grpSpPr>
          <a:xfrm>
            <a:off x="17188485" y="12906674"/>
            <a:ext cx="15109502" cy="3297699"/>
            <a:chOff x="17188485" y="12765712"/>
            <a:chExt cx="15109502" cy="3297699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003F74A-851A-BE7E-45C5-CAC4AB18D84D}"/>
                </a:ext>
              </a:extLst>
            </p:cNvPr>
            <p:cNvSpPr/>
            <p:nvPr/>
          </p:nvSpPr>
          <p:spPr>
            <a:xfrm>
              <a:off x="17188485" y="13305209"/>
              <a:ext cx="15109502" cy="2758202"/>
            </a:xfrm>
            <a:prstGeom prst="roundRect">
              <a:avLst/>
            </a:prstGeom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274320" tIns="548640" rIns="274320" bIns="274320" rtlCol="0" anchor="ctr">
              <a:spAutoFit/>
            </a:bodyPr>
            <a:lstStyle/>
            <a:p>
              <a:r>
                <a:rPr lang="en-US" sz="54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Thoughtful deterrence tasks prevent mindlessly opening addictive apps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D6778C4-2AB2-D385-2D0E-BE470C46310F}"/>
                </a:ext>
              </a:extLst>
            </p:cNvPr>
            <p:cNvSpPr/>
            <p:nvPr/>
          </p:nvSpPr>
          <p:spPr>
            <a:xfrm>
              <a:off x="17822560" y="12765712"/>
              <a:ext cx="8542640" cy="1078992"/>
            </a:xfrm>
            <a:prstGeom prst="roundRect">
              <a:avLst/>
            </a:prstGeom>
            <a:solidFill>
              <a:srgbClr val="D8DEF7"/>
            </a:solidFill>
            <a:ln w="76200">
              <a:solidFill>
                <a:srgbClr val="2B4AD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Prevents Habituation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E7B091-26E4-D7A0-028C-30B3C51A7F1E}"/>
              </a:ext>
            </a:extLst>
          </p:cNvPr>
          <p:cNvSpPr/>
          <p:nvPr/>
        </p:nvSpPr>
        <p:spPr>
          <a:xfrm>
            <a:off x="33670404" y="9695655"/>
            <a:ext cx="7692255" cy="11163979"/>
          </a:xfrm>
          <a:prstGeom prst="roundRect">
            <a:avLst>
              <a:gd name="adj" fmla="val 3974"/>
            </a:avLst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2B4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8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3703</TotalTime>
  <Words>130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Fechtel, Bobby (fechtert)</dc:creator>
  <cp:lastModifiedBy>Fechtel, Bobby (fechtert)</cp:lastModifiedBy>
  <cp:revision>16</cp:revision>
  <dcterms:created xsi:type="dcterms:W3CDTF">2026-03-09T14:16:02Z</dcterms:created>
  <dcterms:modified xsi:type="dcterms:W3CDTF">2026-03-13T16:56:41Z</dcterms:modified>
</cp:coreProperties>
</file>