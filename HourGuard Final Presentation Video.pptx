
<file path=[Content_Types].xml><?xml version="1.0" encoding="utf-8"?>
<Types xmlns="http://schemas.openxmlformats.org/package/2006/content-types">
  <Default Extension="Default" ContentType="image/png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7" r:id="rId1"/>
  </p:sldMasterIdLst>
  <p:sldIdLst>
    <p:sldId id="265" r:id="rId2"/>
    <p:sldId id="266" r:id="rId3"/>
    <p:sldId id="267" r:id="rId4"/>
    <p:sldId id="268" r:id="rId5"/>
    <p:sldId id="269" r:id="rId6"/>
    <p:sldId id="270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9FAFD"/>
    <a:srgbClr val="F2F4FC"/>
    <a:srgbClr val="D8DEF7"/>
    <a:srgbClr val="21212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915" autoAdjust="0"/>
  </p:normalViewPr>
  <p:slideViewPr>
    <p:cSldViewPr snapToGrid="0">
      <p:cViewPr>
        <p:scale>
          <a:sx n="100" d="100"/>
          <a:sy n="100" d="100"/>
        </p:scale>
        <p:origin x="95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-3175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0001" y="1449147"/>
            <a:ext cx="10572000" cy="2971051"/>
          </a:xfrm>
        </p:spPr>
        <p:txBody>
          <a:bodyPr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434974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9EBBA-996F-894A-B54A-D6246ED52CEA}" type="datetimeFigureOut">
              <a:rPr lang="en-US" dirty="0"/>
              <a:pPr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9733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712" y="2222287"/>
            <a:ext cx="10554574" cy="36365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3A1323-8D79-1946-B0D7-40001CF92E9D}" type="datetimeFigureOut">
              <a:rPr lang="en-US" dirty="0"/>
              <a:pPr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282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7"/>
          <p:cNvSpPr/>
          <p:nvPr/>
        </p:nvSpPr>
        <p:spPr bwMode="auto">
          <a:xfrm>
            <a:off x="0" y="1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2951396"/>
            <a:ext cx="10561418" cy="1468800"/>
          </a:xfrm>
        </p:spPr>
        <p:txBody>
          <a:bodyPr anchor="b"/>
          <a:lstStyle>
            <a:lvl1pPr algn="r">
              <a:defRPr sz="4800" b="1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5281201"/>
            <a:ext cx="10561418" cy="433955"/>
          </a:xfrm>
        </p:spPr>
        <p:txBody>
          <a:bodyPr anchor="t">
            <a:no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A1846-DA80-1C48-A609-854EA85C59AD}" type="datetimeFigureOut">
              <a:rPr lang="en-US" dirty="0"/>
              <a:pPr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05589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8712" y="2222287"/>
            <a:ext cx="5185873" cy="36387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15" y="2222287"/>
            <a:ext cx="5194583" cy="363876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302355-E14B-8545-A8F8-0FE83CC9D524}" type="datetimeFigureOut">
              <a:rPr lang="en-US" dirty="0"/>
              <a:pPr/>
              <a:t>3/26/2026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1216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4728" y="2174875"/>
            <a:ext cx="5189857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4729" y="2751138"/>
            <a:ext cx="5189856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7415" y="2174875"/>
            <a:ext cx="5194583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7415" y="2751138"/>
            <a:ext cx="5194583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640F58-564D-2B4F-AE67-E407BA4FCF45}" type="datetimeFigureOut">
              <a:rPr lang="en-US" dirty="0"/>
              <a:pPr/>
              <a:t>3/26/2026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83294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A34C8-038E-2045-AF43-DF7DBB8E0E9E}" type="datetimeFigureOut">
              <a:rPr lang="en-US" dirty="0"/>
              <a:pPr/>
              <a:t>3/26/2026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07836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8C68F-D26B-8F47-958C-23B49CF8A634}" type="datetimeFigureOut">
              <a:rPr lang="en-US" dirty="0"/>
              <a:pPr/>
              <a:t>3/26/2026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19970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1073151" y="446087"/>
            <a:ext cx="3547533" cy="1814651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3151" y="446088"/>
            <a:ext cx="3547533" cy="161839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446088"/>
            <a:ext cx="6252633" cy="54149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73151" y="2260738"/>
            <a:ext cx="3547533" cy="360031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DF5E60-9974-AC48-9591-99C2BB44B7CF}" type="datetimeFigureOut">
              <a:rPr lang="en-US" dirty="0"/>
              <a:pPr/>
              <a:t>3/26/2026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40781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728" y="727522"/>
            <a:ext cx="4852988" cy="1617163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Picture Placeholder 11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6098117" y="0"/>
            <a:ext cx="6093883" cy="6858000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noFill/>
          <a:ln w="9525">
            <a:solidFill>
              <a:schemeClr val="tx2"/>
            </a:solidFill>
            <a:round/>
            <a:headEnd/>
            <a:tailEnd/>
          </a:ln>
          <a:effectLst/>
        </p:spPr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algn="ctr">
              <a:buFontTx/>
              <a:buNone/>
              <a:defRPr sz="1400"/>
            </a:lvl1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4728" y="2344684"/>
            <a:ext cx="4852988" cy="3516365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885810" y="6041362"/>
            <a:ext cx="976879" cy="365125"/>
          </a:xfrm>
        </p:spPr>
        <p:txBody>
          <a:bodyPr/>
          <a:lstStyle/>
          <a:p>
            <a:fld id="{18C79C5D-2A6F-F04D-97DA-BEF2467B64E4}" type="datetimeFigureOut">
              <a:rPr lang="en-US" dirty="0"/>
              <a:pPr/>
              <a:t>3/26/2026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0396" y="6041362"/>
            <a:ext cx="329541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62689" y="5915888"/>
            <a:ext cx="1062155" cy="490599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860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800600"/>
            <a:ext cx="10561418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Picture Placeholder 14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0" y="0"/>
            <a:ext cx="12192000" cy="4800600"/>
          </a:xfrm>
          <a:custGeom>
            <a:avLst/>
            <a:gdLst/>
            <a:ahLst/>
            <a:cxnLst/>
            <a:rect l="0" t="0" r="r" b="b"/>
            <a:pathLst>
              <a:path w="5760" h="3289">
                <a:moveTo>
                  <a:pt x="5760" y="0"/>
                </a:moveTo>
                <a:lnTo>
                  <a:pt x="0" y="0"/>
                </a:lnTo>
                <a:lnTo>
                  <a:pt x="0" y="3100"/>
                </a:lnTo>
                <a:lnTo>
                  <a:pt x="943" y="3100"/>
                </a:lnTo>
                <a:lnTo>
                  <a:pt x="1123" y="3281"/>
                </a:lnTo>
                <a:lnTo>
                  <a:pt x="1123" y="3281"/>
                </a:lnTo>
                <a:lnTo>
                  <a:pt x="1127" y="3283"/>
                </a:lnTo>
                <a:lnTo>
                  <a:pt x="1133" y="3286"/>
                </a:lnTo>
                <a:lnTo>
                  <a:pt x="1139" y="3289"/>
                </a:lnTo>
                <a:lnTo>
                  <a:pt x="1144" y="3289"/>
                </a:lnTo>
                <a:lnTo>
                  <a:pt x="1150" y="3289"/>
                </a:lnTo>
                <a:lnTo>
                  <a:pt x="1155" y="3286"/>
                </a:lnTo>
                <a:lnTo>
                  <a:pt x="1161" y="3283"/>
                </a:lnTo>
                <a:lnTo>
                  <a:pt x="1165" y="3281"/>
                </a:lnTo>
                <a:lnTo>
                  <a:pt x="1345" y="3100"/>
                </a:lnTo>
                <a:lnTo>
                  <a:pt x="5760" y="3100"/>
                </a:lnTo>
                <a:lnTo>
                  <a:pt x="5760" y="0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marL="0" indent="0" algn="ctr">
              <a:buFontTx/>
              <a:buNone/>
              <a:defRPr sz="1600"/>
            </a:lvl1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0000" y="5367338"/>
            <a:ext cx="10561418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79C5D-2A6F-F04D-97DA-BEF2467B64E4}" type="datetimeFigureOut">
              <a:rPr lang="en-US" dirty="0"/>
              <a:pPr/>
              <a:t>3/26/2026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5774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>
            <a:spLocks noChangeAspect="1"/>
          </p:cNvSpPr>
          <p:nvPr/>
        </p:nvSpPr>
        <p:spPr bwMode="auto">
          <a:xfrm>
            <a:off x="631697" y="1081456"/>
            <a:ext cx="6332416" cy="3239188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0985" y="1238502"/>
            <a:ext cx="5893840" cy="2645912"/>
          </a:xfrm>
        </p:spPr>
        <p:txBody>
          <a:bodyPr anchor="b"/>
          <a:lstStyle>
            <a:lvl1pPr algn="l">
              <a:defRPr sz="4200" b="1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190" y="4443680"/>
            <a:ext cx="5891636" cy="713241"/>
          </a:xfrm>
        </p:spPr>
        <p:txBody>
          <a:bodyPr anchor="t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7574642" y="1081456"/>
            <a:ext cx="3810001" cy="407546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A1846-DA80-1C48-A609-854EA85C59AD}" type="datetimeFigureOut">
              <a:rPr lang="en-US" dirty="0"/>
              <a:pPr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6502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6"/>
          <p:cNvSpPr>
            <a:spLocks noChangeAspect="1"/>
          </p:cNvSpPr>
          <p:nvPr/>
        </p:nvSpPr>
        <p:spPr bwMode="auto">
          <a:xfrm>
            <a:off x="1140884" y="2286585"/>
            <a:ext cx="4895115" cy="2503972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38" name="Title 1"/>
          <p:cNvSpPr>
            <a:spLocks noGrp="1"/>
          </p:cNvSpPr>
          <p:nvPr>
            <p:ph type="title"/>
          </p:nvPr>
        </p:nvSpPr>
        <p:spPr>
          <a:xfrm>
            <a:off x="1357089" y="2435957"/>
            <a:ext cx="4382521" cy="2007789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6156000" y="2286000"/>
            <a:ext cx="4880300" cy="229552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54567-0DE4-3F47-BF90-CB84690072F9}" type="datetimeFigureOut">
              <a:rPr lang="en-US" dirty="0"/>
              <a:pPr/>
              <a:t>3/26/2026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9983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C52C72-DE31-F449-A4ED-4C594FD91407}" type="datetimeFigureOut">
              <a:rPr lang="en-US" dirty="0"/>
              <a:pPr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69613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7669651" y="446089"/>
            <a:ext cx="4522349" cy="5414962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183540" y="586171"/>
            <a:ext cx="2494791" cy="51347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0001" y="446089"/>
            <a:ext cx="6611540" cy="5414962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62726E-379B-B349-9EED-81ED093FA806}" type="datetimeFigureOut">
              <a:rPr lang="en-US" dirty="0"/>
              <a:pPr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52031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effectLst>
            <a:outerShdw blurRad="50800" dir="14400000">
              <a:srgbClr val="000000">
                <a:alpha val="60000"/>
              </a:srgbClr>
            </a:outerShdw>
          </a:effectLst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2184401"/>
            <a:ext cx="10563285" cy="3674397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09B482E8-6E0E-1B4F-B1FD-C69DB9E858D9}" type="datetimeFigureOut">
              <a:rPr lang="en-US" dirty="0"/>
              <a:pPr/>
              <a:t>3/26/2026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</p:spPr>
        <p:txBody>
          <a:bodyPr vert="horz" lIns="91440" tIns="45720" rIns="91440" bIns="10800" rtlCol="0" anchor="b"/>
          <a:lstStyle>
            <a:lvl1pPr algn="r">
              <a:defRPr sz="20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539314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8" r:id="rId1"/>
    <p:sldLayoutId id="2147483719" r:id="rId2"/>
    <p:sldLayoutId id="2147483720" r:id="rId3"/>
    <p:sldLayoutId id="2147483721" r:id="rId4"/>
    <p:sldLayoutId id="2147483722" r:id="rId5"/>
    <p:sldLayoutId id="2147483723" r:id="rId6"/>
    <p:sldLayoutId id="2147483724" r:id="rId7"/>
    <p:sldLayoutId id="2147483725" r:id="rId8"/>
    <p:sldLayoutId id="2147483726" r:id="rId9"/>
    <p:sldLayoutId id="2147483727" r:id="rId10"/>
    <p:sldLayoutId id="2147483728" r:id="rId11"/>
    <p:sldLayoutId id="2147483729" r:id="rId12"/>
    <p:sldLayoutId id="2147483730" r:id="rId13"/>
    <p:sldLayoutId id="2147483731" r:id="rId14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000" b="1" kern="1200">
          <a:solidFill>
            <a:srgbClr val="FEFEFE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4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6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10" Type="http://schemas.openxmlformats.org/officeDocument/2006/relationships/image" Target="../media/image12.Default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448E736-2F48-6AF5-E208-A3484BDAE6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0001" y="5280846"/>
            <a:ext cx="10572000" cy="991937"/>
          </a:xfrm>
        </p:spPr>
        <p:txBody>
          <a:bodyPr>
            <a:normAutofit/>
          </a:bodyPr>
          <a:lstStyle/>
          <a:p>
            <a:r>
              <a:rPr lang="en-US" dirty="0"/>
              <a:t>Team 4: Nicholas Dumford, Bobby Fechtel, Chase Smith</a:t>
            </a:r>
          </a:p>
          <a:p>
            <a:r>
              <a:rPr lang="en-US" dirty="0"/>
              <a:t>Advisor: Dr. Shane Halse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7E13E96-4EB4-30C0-926E-4D5C8177EB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2166" y="1142180"/>
            <a:ext cx="10927668" cy="3584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76598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CF6B79-E397-B27F-0211-262E83939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5400" dirty="0"/>
              <a:t>The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9DDE0F-E740-6C11-C921-3C906FC51D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sz="2400" dirty="0"/>
              <a:t>Cell phones are distracting and constantly begging for attention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sz="2400" dirty="0"/>
              <a:t>Social media apps are especially addicting, designed to keep you on them as long as possible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sz="2400" dirty="0"/>
              <a:t>Current solutions are primarily designed for parents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E3383A9-F528-72E9-F451-EAC5E6686D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71995" y="122410"/>
            <a:ext cx="1620006" cy="1620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4074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14C2A-80BD-8266-9916-96F0F4D4C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EFCCEC-88A4-3FBA-AA29-C72DED4003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5400" dirty="0"/>
              <a:t>Our 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903837-E773-8677-C5CE-F29F66DB3405}"/>
              </a:ext>
            </a:extLst>
          </p:cNvPr>
          <p:cNvSpPr>
            <a:spLocks noGrp="1"/>
          </p:cNvSpPr>
          <p:nvPr>
            <p:ph idx="1"/>
          </p:nvPr>
        </p:nvSpPr>
        <p:spPr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sz="2400" dirty="0"/>
              <a:t>Flexible App Limits</a:t>
            </a:r>
          </a:p>
          <a:p>
            <a:pPr lvl="1"/>
            <a:r>
              <a:rPr lang="en-US" sz="2000" dirty="0"/>
              <a:t>Set daily limits, per-session timers, or both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sz="2400" dirty="0"/>
              <a:t>Prevents Habituation</a:t>
            </a:r>
          </a:p>
          <a:p>
            <a:pPr lvl="1"/>
            <a:r>
              <a:rPr lang="en-US" sz="2000" dirty="0"/>
              <a:t>Thoughtful deterrence tasks prevent mindlessly opening addictive apps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sz="2400" dirty="0"/>
              <a:t>Track Progress</a:t>
            </a:r>
          </a:p>
          <a:p>
            <a:pPr lvl="1"/>
            <a:r>
              <a:rPr lang="en-US" sz="2000" dirty="0"/>
              <a:t>Streaks for staying within set app limits provide positive reinforcement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C10C6A2E-22AD-11BA-A2C3-E1A9E789BE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71995" y="122410"/>
            <a:ext cx="1620006" cy="1620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85781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05FD75-735A-2FC4-A8CF-4D638FE62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A0EFD-1D8A-CC57-68A8-5ED203CF9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5400" dirty="0"/>
              <a:t>Technical Details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614FA25-E304-0CDA-173E-5B1A702D7B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71995" y="122410"/>
            <a:ext cx="1620006" cy="1620006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027D1B0-06AC-F7CD-368F-C4DB4F5F1C23}"/>
              </a:ext>
            </a:extLst>
          </p:cNvPr>
          <p:cNvSpPr/>
          <p:nvPr/>
        </p:nvSpPr>
        <p:spPr>
          <a:xfrm>
            <a:off x="2609757" y="2727318"/>
            <a:ext cx="9193174" cy="3323760"/>
          </a:xfrm>
          <a:prstGeom prst="roundRect">
            <a:avLst>
              <a:gd name="adj" fmla="val 4463"/>
            </a:avLst>
          </a:prstGeom>
          <a:solidFill>
            <a:srgbClr val="F9FAFD"/>
          </a:solidFill>
          <a:ln w="76200">
            <a:solidFill>
              <a:srgbClr val="2B4AD4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6000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75FCD424-6C47-8893-DF5F-A262D4C030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49373" y="2958641"/>
            <a:ext cx="8713938" cy="283344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B8C9EB7B-91A6-C10B-4B20-9FCEC884574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28689" y="4168492"/>
            <a:ext cx="1364245" cy="798801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526E2C53-76E4-5C97-8F9E-F47663F023D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21586" y="5252277"/>
            <a:ext cx="1769096" cy="798801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7D6631A-32B9-6B6D-437D-7CB151D3293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039" y="2727318"/>
            <a:ext cx="1156190" cy="1156190"/>
          </a:xfrm>
          <a:prstGeom prst="rect">
            <a:avLst/>
          </a:prstGeom>
          <a:ln w="76200">
            <a:noFill/>
          </a:ln>
        </p:spPr>
      </p:pic>
    </p:spTree>
    <p:extLst>
      <p:ext uri="{BB962C8B-B14F-4D97-AF65-F5344CB8AC3E}">
        <p14:creationId xmlns:p14="http://schemas.microsoft.com/office/powerpoint/2010/main" val="26627222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3DEC6-04F9-BC53-A2D5-2BAA31565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DDF4E9-A2EC-41D4-245C-D4733684FA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5400" dirty="0"/>
              <a:t>Demo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6F580CC5-D5FA-8516-AC16-52F6108AA5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71995" y="122410"/>
            <a:ext cx="1620006" cy="1620006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753BA1E-0BDE-9303-2772-72105717717A}"/>
              </a:ext>
            </a:extLst>
          </p:cNvPr>
          <p:cNvSpPr/>
          <p:nvPr/>
        </p:nvSpPr>
        <p:spPr>
          <a:xfrm>
            <a:off x="4591047" y="2139200"/>
            <a:ext cx="3009904" cy="4368352"/>
          </a:xfrm>
          <a:prstGeom prst="roundRect">
            <a:avLst>
              <a:gd name="adj" fmla="val 3974"/>
            </a:avLst>
          </a:prstGeom>
          <a:blipFill dpi="0"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76200">
            <a:solidFill>
              <a:srgbClr val="2B4A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77806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2DF1E9-209F-402D-A36D-4859A695D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548CB-4F1C-97AE-4E3B-F1EE50D99C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5400" dirty="0"/>
              <a:t>Conclusion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DEAF5D-8DED-CF59-27BB-B8637FA3B501}"/>
              </a:ext>
            </a:extLst>
          </p:cNvPr>
          <p:cNvSpPr>
            <a:spLocks noGrp="1"/>
          </p:cNvSpPr>
          <p:nvPr>
            <p:ph idx="1"/>
          </p:nvPr>
        </p:nvSpPr>
        <p:spPr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sz="2400" dirty="0"/>
              <a:t>HourGuard is a psychology-backed time management app for Android devices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sz="2400" dirty="0"/>
              <a:t>Helps the user build healthy screen time habits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sz="2400" dirty="0"/>
              <a:t>Designed for self-regulation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63325EED-E369-4D8C-BA62-C514D6502C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71995" y="122410"/>
            <a:ext cx="1620006" cy="1620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787253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Quotable">
  <a:themeElements>
    <a:clrScheme name="Custom 13">
      <a:dk1>
        <a:srgbClr val="242424"/>
      </a:dk1>
      <a:lt1>
        <a:sysClr val="window" lastClr="FFFFFF"/>
      </a:lt1>
      <a:dk2>
        <a:srgbClr val="212121"/>
      </a:dk2>
      <a:lt2>
        <a:srgbClr val="636363"/>
      </a:lt2>
      <a:accent1>
        <a:srgbClr val="99A8EA"/>
      </a:accent1>
      <a:accent2>
        <a:srgbClr val="D8DEF7"/>
      </a:accent2>
      <a:accent3>
        <a:srgbClr val="2B4AD4"/>
      </a:accent3>
      <a:accent4>
        <a:srgbClr val="8093E5"/>
      </a:accent4>
      <a:accent5>
        <a:srgbClr val="F16E40"/>
      </a:accent5>
      <a:accent6>
        <a:srgbClr val="EB9C5A"/>
      </a:accent6>
      <a:hlink>
        <a:srgbClr val="8F8F8F"/>
      </a:hlink>
      <a:folHlink>
        <a:srgbClr val="A5A5A5"/>
      </a:folHlink>
    </a:clrScheme>
    <a:fontScheme name="Open Sans">
      <a:majorFont>
        <a:latin typeface="Open Sans"/>
        <a:ea typeface=""/>
        <a:cs typeface=""/>
      </a:majorFont>
      <a:minorFont>
        <a:latin typeface="Open Sans"/>
        <a:ea typeface=""/>
        <a:cs typeface=""/>
      </a:minorFont>
    </a:fontScheme>
    <a:fmtScheme name="Quotabl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lumMod val="105000"/>
              </a:schemeClr>
            </a:gs>
            <a:gs pos="100000">
              <a:schemeClr val="phClr">
                <a:tint val="9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8000"/>
                <a:lumMod val="102000"/>
              </a:schemeClr>
              <a:schemeClr val="phClr">
                <a:shade val="98000"/>
                <a:lumMod val="98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635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</a:schemeClr>
            </a:gs>
            <a:gs pos="100000">
              <a:schemeClr val="phClr">
                <a:tint val="84000"/>
                <a:shade val="84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90000"/>
                <a:satMod val="120000"/>
                <a:lumMod val="90000"/>
              </a:schemeClr>
            </a:gs>
            <a:gs pos="100000">
              <a:schemeClr val="phClr"/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Quotable" id="{39EC5628-30ED-4578-ACD8-9820EDB8E15A}" vid="{7AF46513-5B0D-4B03-9323-32F3F0BFC9D6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123</TotalTime>
  <Words>113</Words>
  <Application>Microsoft Office PowerPoint</Application>
  <PresentationFormat>Widescreen</PresentationFormat>
  <Paragraphs>19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Open Sans</vt:lpstr>
      <vt:lpstr>Wingdings 2</vt:lpstr>
      <vt:lpstr>Quotable</vt:lpstr>
      <vt:lpstr>PowerPoint Presentation</vt:lpstr>
      <vt:lpstr>The Problem</vt:lpstr>
      <vt:lpstr>Our Solution</vt:lpstr>
      <vt:lpstr>Technical Details</vt:lpstr>
      <vt:lpstr>Demo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Bobby Fechtel</dc:creator>
  <cp:lastModifiedBy>Fechtel, Bobby (fechtert)</cp:lastModifiedBy>
  <cp:revision>5</cp:revision>
  <dcterms:created xsi:type="dcterms:W3CDTF">2025-11-17T00:25:09Z</dcterms:created>
  <dcterms:modified xsi:type="dcterms:W3CDTF">2026-03-26T17:48:53Z</dcterms:modified>
</cp:coreProperties>
</file>